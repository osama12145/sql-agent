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a5d53d73f54b1a" /><Relationship Type="http://schemas.openxmlformats.org/officeDocument/2006/relationships/extended-properties" Target="/docProps/app.xml" Id="R103c1ba709f9462a" /><Relationship Type="http://schemas.openxmlformats.org/officeDocument/2006/relationships/officeDocument" Target="/ppt/presentation.xml" Id="Ra276e8fd568a45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d18d69db347c6"/>
  </p:sldMasterIdLst>
  <p:notesMasterIdLst>
    <p:notesMasterId xmlns:r="http://schemas.openxmlformats.org/officeDocument/2006/relationships" r:id="Raed7f1f3a97a495c"/>
  </p:notesMasterIdLst>
  <p:sldIdLst>
    <p:sldId xmlns:r="http://schemas.openxmlformats.org/officeDocument/2006/relationships" id="256" r:id="R61896ff83fe145a1"/>
    <p:sldId xmlns:r="http://schemas.openxmlformats.org/officeDocument/2006/relationships" id="257" r:id="Ra3c3c24cfcbc4d01"/>
    <p:sldId xmlns:r="http://schemas.openxmlformats.org/officeDocument/2006/relationships" id="258" r:id="R71112d493cda4e2f"/>
    <p:sldId xmlns:r="http://schemas.openxmlformats.org/officeDocument/2006/relationships" id="259" r:id="Rcbdebdb4d04e4246"/>
    <p:sldId xmlns:r="http://schemas.openxmlformats.org/officeDocument/2006/relationships" id="260" r:id="Rbf83d29fa4814d06"/>
    <p:sldId xmlns:r="http://schemas.openxmlformats.org/officeDocument/2006/relationships" id="261" r:id="R636491ee26dc4a8e"/>
    <p:sldId xmlns:r="http://schemas.openxmlformats.org/officeDocument/2006/relationships" id="262" r:id="R1d952bfb1c2d479a"/>
    <p:sldId xmlns:r="http://schemas.openxmlformats.org/officeDocument/2006/relationships" id="263" r:id="R9af3304005a64c19"/>
    <p:sldId xmlns:r="http://schemas.openxmlformats.org/officeDocument/2006/relationships" id="264" r:id="R0edd0f44311a4bfc"/>
    <p:sldId xmlns:r="http://schemas.openxmlformats.org/officeDocument/2006/relationships" id="265" r:id="R73d7357631ee46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0bf7b5ce624d34" /><Relationship Type="http://schemas.openxmlformats.org/officeDocument/2006/relationships/slideMaster" Target="/ppt/slideMasters/slideMaster1.xml" Id="R131d18d69db347c6" /><Relationship Type="http://schemas.openxmlformats.org/officeDocument/2006/relationships/notesMaster" Target="/ppt/notesMasters/notesMaster1.xml" Id="Raed7f1f3a97a495c" /><Relationship Type="http://schemas.openxmlformats.org/officeDocument/2006/relationships/presProps" Target="/ppt/presProps.xml" Id="R38f0f8c19ee04ad1" /><Relationship Type="http://schemas.openxmlformats.org/officeDocument/2006/relationships/tableStyles" Target="/ppt/tableStyles.xml" Id="Rd2c718859a644414" /><Relationship Type="http://schemas.openxmlformats.org/officeDocument/2006/relationships/slide" Target="/ppt/slides/slide1.xml" Id="R61896ff83fe145a1" /><Relationship Type="http://schemas.openxmlformats.org/officeDocument/2006/relationships/slide" Target="/ppt/slides/slide2.xml" Id="Ra3c3c24cfcbc4d01" /><Relationship Type="http://schemas.openxmlformats.org/officeDocument/2006/relationships/slide" Target="/ppt/slides/slide3.xml" Id="R71112d493cda4e2f" /><Relationship Type="http://schemas.openxmlformats.org/officeDocument/2006/relationships/slide" Target="/ppt/slides/slide4.xml" Id="Rcbdebdb4d04e4246" /><Relationship Type="http://schemas.openxmlformats.org/officeDocument/2006/relationships/slide" Target="/ppt/slides/slide5.xml" Id="Rbf83d29fa4814d06" /><Relationship Type="http://schemas.openxmlformats.org/officeDocument/2006/relationships/slide" Target="/ppt/slides/slide6.xml" Id="R636491ee26dc4a8e" /><Relationship Type="http://schemas.openxmlformats.org/officeDocument/2006/relationships/slide" Target="/ppt/slides/slide7.xml" Id="R1d952bfb1c2d479a" /><Relationship Type="http://schemas.openxmlformats.org/officeDocument/2006/relationships/slide" Target="/ppt/slides/slide8.xml" Id="R9af3304005a64c19" /><Relationship Type="http://schemas.openxmlformats.org/officeDocument/2006/relationships/slide" Target="/ppt/slides/slide9.xml" Id="R0edd0f44311a4bfc" /><Relationship Type="http://schemas.openxmlformats.org/officeDocument/2006/relationships/slide" Target="/ppt/slides/slide10.xml" Id="R73d7357631ee46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ca51fa74a048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a521d416e4100" /><Relationship Type="http://schemas.openxmlformats.org/officeDocument/2006/relationships/notesMaster" Target="/ppt/notesMasters/notesMaster1.xml" Id="R13076e36bdda44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73c72841804615" /><Relationship Type="http://schemas.openxmlformats.org/officeDocument/2006/relationships/notesMaster" Target="/ppt/notesMasters/notesMaster1.xml" Id="Re6a440d57b8941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ecb07028794de5" /><Relationship Type="http://schemas.openxmlformats.org/officeDocument/2006/relationships/notesMaster" Target="/ppt/notesMasters/notesMaster1.xml" Id="R96daedc2a8f6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f89355e0794530" /><Relationship Type="http://schemas.openxmlformats.org/officeDocument/2006/relationships/notesMaster" Target="/ppt/notesMasters/notesMaster1.xml" Id="R07f48333911e4e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1c33ad1d2446f" /><Relationship Type="http://schemas.openxmlformats.org/officeDocument/2006/relationships/notesMaster" Target="/ppt/notesMasters/notesMaster1.xml" Id="R66a06e43b1eb4d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3ec31319b94488" /><Relationship Type="http://schemas.openxmlformats.org/officeDocument/2006/relationships/notesMaster" Target="/ppt/notesMasters/notesMaster1.xml" Id="R9456847befcc46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a3252baec4f11" /><Relationship Type="http://schemas.openxmlformats.org/officeDocument/2006/relationships/notesMaster" Target="/ppt/notesMasters/notesMaster1.xml" Id="R7cee3035228243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df7f34f67b428a" /><Relationship Type="http://schemas.openxmlformats.org/officeDocument/2006/relationships/notesMaster" Target="/ppt/notesMasters/notesMaster1.xml" Id="Re993b6a0fad64c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a7956c601644a6" /><Relationship Type="http://schemas.openxmlformats.org/officeDocument/2006/relationships/notesMaster" Target="/ppt/notesMasters/notesMaster1.xml" Id="R98964492c1f746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fda1ea442f431e" /><Relationship Type="http://schemas.openxmlformats.org/officeDocument/2006/relationships/notesMaster" Target="/ppt/notesMasters/notesMaster1.xml" Id="Rd3b74799f1334b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28fc584764b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b14d6402dc4910" /><Relationship Type="http://schemas.openxmlformats.org/officeDocument/2006/relationships/slideLayout" Target="/ppt/slideLayouts/slideLayout1.xml" Id="R9fa10433cd3f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10433cd3f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28a8273284a99" /><Relationship Type="http://schemas.openxmlformats.org/officeDocument/2006/relationships/notesSlide" Target="/ppt/notesSlides/notesSlide1.xml" Id="R56677793ea6546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9d50eacc54ac9" /><Relationship Type="http://schemas.openxmlformats.org/officeDocument/2006/relationships/notesSlide" Target="/ppt/notesSlides/notesSlide2.xml" Id="Rb77f6b2c4460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3ee090514407c" /><Relationship Type="http://schemas.openxmlformats.org/officeDocument/2006/relationships/notesSlide" Target="/ppt/notesSlides/notesSlide3.xml" Id="Re8e7b3dffe5945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dc988b7694c03" /><Relationship Type="http://schemas.openxmlformats.org/officeDocument/2006/relationships/notesSlide" Target="/ppt/notesSlides/notesSlide4.xml" Id="R1f3a59d8643a4a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a5a309d9c4ebc" /><Relationship Type="http://schemas.openxmlformats.org/officeDocument/2006/relationships/notesSlide" Target="/ppt/notesSlides/notesSlide5.xml" Id="Rf675775b02b6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63bb94a3944ba" /><Relationship Type="http://schemas.openxmlformats.org/officeDocument/2006/relationships/notesSlide" Target="/ppt/notesSlides/notesSlide6.xml" Id="R348c387bba3f4a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87032cc914b1f" /><Relationship Type="http://schemas.openxmlformats.org/officeDocument/2006/relationships/notesSlide" Target="/ppt/notesSlides/notesSlide7.xml" Id="R4c24eab134a545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9751d2ae14f34" /><Relationship Type="http://schemas.openxmlformats.org/officeDocument/2006/relationships/notesSlide" Target="/ppt/notesSlides/notesSlide8.xml" Id="R7eae267f7db64c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15b0ddf4b411e" /><Relationship Type="http://schemas.openxmlformats.org/officeDocument/2006/relationships/notesSlide" Target="/ppt/notesSlides/notesSlide9.xml" Id="Ree4773b036b945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bc5d8ed284589" /><Relationship Type="http://schemas.openxmlformats.org/officeDocument/2006/relationships/notesSlide" Target="/ppt/notesSlides/notesSlide10.xml" Id="R4f9e8d3c463146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F0484-4944-4CF4-B980-9C232CB3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333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F68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85BF2-53B2-436A-8076-F0B6C017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THTC | JUNIOR AI ENGINEER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53E73-60FE-4295-9667-0724F981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Agentic SQL</a:t>
            </a:r>
          </a:p>
          <a:p xmlns:a="http://schemas.openxmlformats.org/drawingml/2006/main">
            <a:pPr algn="l">
              <a:defRPr sz="4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C85B8-D9E9-43DC-9742-C4AF225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 small, explainable natural-language-to-SQL workflow built with LangGraph.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93DE8-13FC-4082-81CF-AEA86C20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721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rPr>
              <a:t>OpenRouter + SQLite + FastAPI + Streamlit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E1A3F-EC44-4E85-AC55-5B375F3F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Architecture walkthrough and demo plan</a:t>
            </a:r>
          </a:p>
        </p:txBody>
      </p:sp>
    </p:spTree>
    <p:extLst>
      <p:ext uri="{BB962C8B-B14F-4D97-AF65-F5344CB8AC3E}">
        <p14:creationId xmlns:p14="http://schemas.microsoft.com/office/powerpoint/2010/main" val="1817081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A9316-0637-4422-A2B5-4108E761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assignment is a controlled question-to-answer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44857-E57C-4B22-9ECA-AAE1859A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The UI is intentionally minimal; the engineering decisions are the product.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D09F0-4451-469B-835B-CD8B404A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287A9-64EC-41FE-9D45-F7451956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Agentic SQL Dashboard | Junior AI Engineer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E786D-D68C-4A89-9B0C-DEAFE3FC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C7E5D-4A49-4AE4-A63F-B87BC02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2D5B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3BC62-12DB-440A-A856-3A34DF08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Natural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07B81-3752-44CC-B3B8-2085B527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1847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User asks a business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AE986-56DD-4867-9CC8-5886793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9525">
            <a:solidFill>
              <a:srgbClr val="735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C0CD2-7B4F-4C81-A2FF-B94E14B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Structured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31EF0-6880-4326-8EE6-7BE0BC52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90825"/>
            <a:ext cx="1847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LLM returns SQL + explanation + display hint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09721-2851-4583-B46B-5556F00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B079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6F719-D51B-41E3-9D3A-645A0B3A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Safe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71031-0B96-4F52-918E-EEFF60FE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1847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Validate, limit, and run read-only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B93E8-109F-4701-AB14-E25AC6AF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D7C2C-D1B8-4C30-9CCE-D777BAD1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Answer + display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7EAEF-C44B-49F6-8787-05782C1C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90825"/>
            <a:ext cx="1847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Return results and a data-driven view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76550" y="30765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00700" y="30765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24850" y="30765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269C0-DA6B-4482-BF03-779BC86B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design optimizes for a working demo that a reviewer can follow node by node.</a:t>
            </a:r>
          </a:p>
        </p:txBody>
      </p:sp>
    </p:spTree>
    <p:extLst>
      <p:ext uri="{BB962C8B-B14F-4D97-AF65-F5344CB8AC3E}">
        <p14:creationId xmlns:p14="http://schemas.microsoft.com/office/powerpoint/2010/main" val="326681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1929A-FCFF-461D-8DBF-6D441317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LangGraph makes the agent's decisions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CB561-123F-432F-9AEB-69585D9E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Each box has one responsibility; conditional edges make recovery explicit.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9AB3A-4827-4E95-B904-44B787FC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3F91C-5C6A-4F0F-A2E8-7A463ADC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Agentic SQL Dashboard | Junior AI Engineer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5A943-1ED7-446F-A562-C9AF835B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59636-FA89-4556-A9CC-E607B677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42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12352-177F-4E1A-96AD-0F77DD89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41944-2A37-4B4C-AA88-CF3E51D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1257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2D5B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70084-C2A0-4F5F-BC52-1B64BBCD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load_schema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994ED-79A2-43B3-A8F0-01495097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52625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9525">
            <a:solidFill>
              <a:srgbClr val="735A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9ED38-7A9D-41CE-A239-B583F065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526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generate_sql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4DFB4-EDE9-4AA5-8638-3E322DF0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B079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04C71-A143-4101-801C-F582FFF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validate_sql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13853-B840-4E13-8B07-8F709F0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F09D2-7A6F-456C-9FE4-24EBC28D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execute_sql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96752-68DA-4FEC-AC9C-E2C65B75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52625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9525">
            <a:solidFill>
              <a:srgbClr val="735A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6A485-5419-45D8-B0FD-63CEE9BF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526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decide_display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77BC2-8626-4F70-8851-E9C1450A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2D5B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A4706-94FD-4D87-ACAD-21A116DF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summarize_answer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FEA60-5721-4428-9C40-F8AD0E73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52625"/>
            <a:ext cx="742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1FDA4-E91D-4AE9-A7A5-468E3D89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5262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END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42875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7655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0055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2455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44855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6780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87755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770"/>
            </a:solidFill>
            <a:prstDash val="solid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503740-3167-4B9F-B801-9CB86A0F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9525">
            <a:solidFill>
              <a:srgbClr val="735A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977918-0FBB-495F-98C0-D39CE8F0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repair_sql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8D45D7-30B3-4893-9C22-448A77C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0"/>
            <a:ext cx="104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A44B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63A90-0053-4BD5-84F0-D35CD5FA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cxnSp>
        <p:nvCxnSpPr>
          <p:cNvPr id="75" name=""/>
          <p:cNvCxnSpPr>
            <a:stCxn xmlns:a="http://schemas.openxmlformats.org/drawingml/2006/main" id="12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257800" y="2543175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44B45"/>
            </a:solidFill>
            <a:prstDash val="dash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4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5257800" y="2543175"/>
            <a:ext cx="1524000" cy="1171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44B45"/>
            </a:solidFill>
            <a:prstDash val="dash"/>
            <a:tailEnd type="arrow" w="sm" len="sm"/>
          </a:ln>
        </p:spPr>
      </p:cxnSp>
      <p:cxnSp>
        <p:nvCxnSpPr>
          <p:cNvPr id="77" name=""/>
          <p:cNvCxnSpPr>
            <a:stCxn xmlns:a="http://schemas.openxmlformats.org/drawingml/2006/main" id="29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362450" y="2543175"/>
            <a:ext cx="895350" cy="1466850"/>
          </a:xfrm>
          <a:prstGeom xmlns:a="http://schemas.openxmlformats.org/drawingml/2006/main" prst="curvedConnector4">
            <a:avLst/>
          </a:prstGeom>
          <a:ln xmlns:a="http://schemas.openxmlformats.org/drawingml/2006/main" w="19050">
            <a:solidFill>
              <a:srgbClr val="2D5B88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12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5257800" y="2543175"/>
            <a:ext cx="2905125" cy="2314575"/>
          </a:xfrm>
          <a:prstGeom xmlns:a="http://schemas.openxmlformats.org/drawingml/2006/main" prst="bentConnector4">
            <a:avLst>
              <a:gd name="adj1" fmla="val 0"/>
              <a:gd name="adj2" fmla="val 9877"/>
            </a:avLst>
          </a:prstGeom>
          <a:ln xmlns:a="http://schemas.openxmlformats.org/drawingml/2006/main" w="19050">
            <a:solidFill>
              <a:srgbClr val="A44B45"/>
            </a:solidFill>
            <a:prstDash val="dash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14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6781800" y="2543175"/>
            <a:ext cx="1381125" cy="2314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44B45"/>
            </a:solidFill>
            <a:prstDash val="dash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31" idx="3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8758238" y="2471738"/>
            <a:ext cx="2609850" cy="27527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44B45"/>
            </a:solidFill>
            <a:prstDash val="solid"/>
            <a:tailEnd type="arrow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030130-241D-4DFD-AC32-E85A577A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764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valid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20631B-97C7-4C82-8226-E2CB1041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44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A44B45"/>
                </a:solidFill>
                <a:latin typeface="Helvetica Neue"/>
                <a:ea typeface="Helvetica Neue"/>
                <a:cs typeface="Helvetica Neue"/>
              </a:rPr>
              <a:t>SQL error / invalid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AF1BBF-A979-470E-8B2E-459ECCEC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44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A44B45"/>
                </a:solidFill>
                <a:latin typeface="Helvetica Neue"/>
                <a:ea typeface="Helvetica Neue"/>
                <a:cs typeface="Helvetica Neue"/>
              </a:rPr>
              <a:t>retry limit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3BBEF1-EDA8-4C74-B1EB-D8FC2E1B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34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loop is bounded by MAX_REPAIR_ATTEMPTS = 2.</a:t>
            </a:r>
          </a:p>
        </p:txBody>
      </p:sp>
    </p:spTree>
    <p:extLst>
      <p:ext uri="{BB962C8B-B14F-4D97-AF65-F5344CB8AC3E}">
        <p14:creationId xmlns:p14="http://schemas.microsoft.com/office/powerpoint/2010/main" val="2101518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10257F-730E-4690-983E-3CB42FC4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state is intentionally small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C58DA-66B3-41D8-9D3D-4E7BDCC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LangGraph merges partial updates, so every node can be traced without hidden memory.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8FCF-A148-417E-B29D-C584A53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2BB99-AC56-43DD-8290-059560B4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Agentic SQL Dashboard | Junior AI Engineer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8253C-A5A7-4E0B-9448-AED30D8B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C654D-010B-4282-AD45-5B194889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SHARED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2F8FB-1137-4863-BFB8-B6C2DB2F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Input and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40F14-1F6D-4697-9674-E24581B3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  <a:p xmlns:a="http://schemas.openxmlformats.org/drawingml/2006/main">
            <a:pPr algn="l">
              <a:defRPr sz="157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84AE3-FCBF-47CD-8A62-F72E3C44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SQL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FE6F2-1C0C-40BC-8430-F340D61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sql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sql_explanation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display_hint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attempts /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7525D-76F7-43D2-B839-F08C4651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14252E"/>
          </a:solidFill>
          <a:ln xmlns:a="http://schemas.openxmlformats.org/drawingml/2006/main" w="9525">
            <a:solidFill>
              <a:srgbClr val="1425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8A80A-605B-4B65-9934-9451EF5B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AgentState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8FADB-6738-44F8-925C-8D230AB0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15B"/>
          </a:solidFill>
          <a:ln xmlns:a="http://schemas.openxmlformats.org/drawingml/2006/main" w="0">
            <a:solidFill>
              <a:srgbClr val="3B51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A8C64-FC82-45DD-8565-B7391AA2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  <a:p xmlns:a="http://schemas.openxmlformats.org/drawingml/2006/main">
            <a:pPr algn="l">
              <a:def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rPr>
              <a:t>schema</a:t>
            </a:r>
          </a:p>
          <a:p xmlns:a="http://schemas.openxmlformats.org/drawingml/2006/main">
            <a:pPr algn="l">
              <a:def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rPr>
              <a:t>sql</a:t>
            </a:r>
          </a:p>
          <a:p xmlns:a="http://schemas.openxmlformats.org/drawingml/2006/main">
            <a:pPr algn="l">
              <a:def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rPr>
              <a:t>display_hint</a:t>
            </a:r>
          </a:p>
          <a:p xmlns:a="http://schemas.openxmlformats.org/drawingml/2006/main">
            <a:pPr algn="l">
              <a:def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rPr>
              <a:t>rows / columns</a:t>
            </a:r>
          </a:p>
          <a:p xmlns:a="http://schemas.openxmlformats.org/drawingml/2006/main">
            <a:pPr algn="l">
              <a:def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rPr>
              <a:t>display / answer</a:t>
            </a:r>
          </a:p>
          <a:p xmlns:a="http://schemas.openxmlformats.org/drawingml/2006/main">
            <a:pPr algn="l">
              <a:def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D9E7EA"/>
                </a:solidFill>
                <a:latin typeface="Helvetica Neue"/>
                <a:ea typeface="Helvetica Neue"/>
                <a:cs typeface="Helvetica Neue"/>
              </a:rPr>
              <a:t>attempts /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9AC3D-FC42-43C4-9D1B-3B91B96D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rPr>
              <a:t>Each node reads what it needs and returns only what it changes.</a:t>
            </a:r>
          </a:p>
        </p:txBody>
      </p:sp>
    </p:spTree>
    <p:extLst>
      <p:ext uri="{BB962C8B-B14F-4D97-AF65-F5344CB8AC3E}">
        <p14:creationId xmlns:p14="http://schemas.microsoft.com/office/powerpoint/2010/main" val="299649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BF8D7F-DBBE-45E6-9C22-7A2CA8F1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Safety is layered before the database is touched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90B3F-E5BD-4F1C-A4B9-2C345BEE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The validator is readable; SQLite read-only mode is the second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69F4B-D8D5-4C58-8780-2D3C7A99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DFE7D-06E2-4E1E-B945-87A93884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Agentic SQL Dashboard | Junior AI Engineer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536E4-8B51-4D4A-934F-E36EE68D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F691C-9E7E-4665-B4EA-67170C19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B079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3B05B-2891-47A3-898C-29515D1B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0574B-0B2B-401F-B19C-FACFC5F1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079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0792C"/>
                </a:solidFill>
                <a:latin typeface="Helvetica Neue"/>
                <a:ea typeface="Helvetica Neue"/>
                <a:cs typeface="Helvetica Neue"/>
              </a:rPr>
              <a:t>LAYER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FEEB8-6920-499F-8219-DA4F79EC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validators.py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BDAC0-DA35-4047-A391-80756041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SELECT-only allowlist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One statement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Blocked write keywords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LIMIT 100 for predictable responses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68C91-E15D-499D-AAA7-C96D4C24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86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LAYER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AFB86-8C03-4E82-AA98-013FB30F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58B2C-ACBA-4049-90B5-61491E2D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SQLite mode=ro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EXPLAIN QUERY PLAN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Rows returned as dictionaries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Schema and foreign-key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69F6D-4F6A-4BE1-B5A0-7307CC03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114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2AE7E-0434-45A3-9630-804B7D0E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trust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C1E44-36B1-42B3-BA9B-411BF49D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If a SQL issue remains, the graph repairs it or returns a controlled failure. It never silently writes to the demo database.</a:t>
            </a:r>
          </a:p>
        </p:txBody>
      </p:sp>
    </p:spTree>
    <p:extLst>
      <p:ext uri="{BB962C8B-B14F-4D97-AF65-F5344CB8AC3E}">
        <p14:creationId xmlns:p14="http://schemas.microsoft.com/office/powerpoint/2010/main" val="2017259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AC8D7-11B8-4230-ABAD-FE5155D1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LLM suggests; the data decides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17179-9D86-4149-8BEA-B018EBD6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The hint captures intent, but the result shape protects the dashboard from misleading charts.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C50FE-A2D5-4EC8-B178-86144B84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D0760-8A66-42DA-9F59-6E34E6C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Agentic SQL Dashboard | Junior AI Engineer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EAC8C-7306-4DE1-BC3C-6F63278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23874-29C2-4BDC-B5C0-04012749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286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9525">
            <a:solidFill>
              <a:srgbClr val="735A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E7285-6393-4C74-856D-A43BFEC7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9750"/>
            <a:ext cx="4286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E89D8-A64E-4095-878E-5484A0A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5A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35A91"/>
                </a:solidFill>
                <a:latin typeface="Helvetica Neue"/>
                <a:ea typeface="Helvetica Neue"/>
                <a:cs typeface="Helvetica Neue"/>
              </a:rPr>
              <a:t>BEFORE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0A4E5-46F6-4C1C-846E-B67CDFAD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LLM display hint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AA96F-7C5D-4443-AB35-86AAB41D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"compare" -&gt; bar</a:t>
            </a:r>
          </a:p>
          <a:p xmlns:a="http://schemas.openxmlformats.org/drawingml/2006/main">
            <a:pPr algn="l">
              <a:defRPr sz="17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"trend" -&gt; line</a:t>
            </a:r>
          </a:p>
          <a:p xmlns:a="http://schemas.openxmlformats.org/drawingml/2006/main">
            <a:pPr algn="l">
              <a:defRPr sz="17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"total" -&gt; KPI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DAA6F-FFAB-4BD9-AE57-031B1246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336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AFTER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C895F-C570-4D95-B8C9-81F2CCF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146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Shape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A24DF-B416-49DA-8742-69DE1FE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623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One numeric cell -&gt; KPI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Date/month + number -&gt; line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Category + number -&gt; bar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Detailed result -&gt;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FF148-C3DF-4CDC-9816-51CC2DC3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rPr>
              <a:t>The frontend only renders the backend display specification; chart policy is not hardcoded in Streamlit.</a:t>
            </a:r>
          </a:p>
        </p:txBody>
      </p:sp>
    </p:spTree>
    <p:extLst>
      <p:ext uri="{BB962C8B-B14F-4D97-AF65-F5344CB8AC3E}">
        <p14:creationId xmlns:p14="http://schemas.microsoft.com/office/powerpoint/2010/main" val="834055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62057-5279-462D-9EDB-C3E4C7FC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90-second demo should prove the workflow, not exhaust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3361-D902-4537-82C5-CBB5DA29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Use four questions to make the dynamic dashboard behavior visible immediately.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9230B-36C9-4666-BCB3-8FAB98B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AD383-7158-4A7E-849C-7341EE8B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Agentic SQL Dashboard | Junior AI Engineer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E9862-869C-4731-B807-F85C94E6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1D0E7-0ABF-41C8-A2F8-7863A842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18B9A-52AE-4955-BB5B-E72DB86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Total 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E8A34-5192-41E7-AB11-70CFDCF1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383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KPI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52157-1350-42D8-A48B-B59DEA8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What is the total revenue for completed orders?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45135-721D-4CFE-B9F8-A684264A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E2C36-D665-4EB2-8996-2A8E214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867A2-385F-4B7A-8E9C-6E94B152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Monthly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91E35-4BAB-426C-9B55-6084957A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908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rPr>
              <a:t>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152D6-4220-4A29-B73E-896DD48A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Show monthly revenue for completed orders.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F7CFD-1BA7-4403-8AF6-FEFD694E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C8960-6F9E-45C7-B15D-347711E0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079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0792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34EF8-CA76-4007-9531-90520B90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Top products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38C49-C243-4BC3-B59C-4B7CB3FD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433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79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0792C"/>
                </a:solidFill>
                <a:latin typeface="Helvetica Neue"/>
                <a:ea typeface="Helvetica Neue"/>
                <a:cs typeface="Helvetica Neue"/>
              </a:rPr>
              <a:t>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CE1A3-84E8-47DE-AA12-FD4C49A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338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What are the top 5 products by revenue?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DCBBE-034B-4DDF-95B0-0B967D7D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0806B-CBD7-4CF3-8765-4F46E016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35A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35A9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A4E82-3DBD-4E0A-8F33-34E0E170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details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E5C66-F1F4-4F55-8A9C-FE4C0F0D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958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5A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35A91"/>
                </a:solidFill>
                <a:latin typeface="Helvetica Neue"/>
                <a:ea typeface="Helvetica Neue"/>
                <a:cs typeface="Helvetica Neue"/>
              </a:rPr>
              <a:t>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0A76A-DD3A-4FEF-8B74-09D15D15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List each product with its category and price.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7AC2F-EA6E-4752-B4AC-495C27CE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8FD28-0AFC-47FB-8B7B-80189CC6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During the demo: open Generated SQL once, point to the display change, then mention the repair path rather than forcing an error live.</a:t>
            </a:r>
          </a:p>
        </p:txBody>
      </p:sp>
    </p:spTree>
    <p:extLst>
      <p:ext uri="{BB962C8B-B14F-4D97-AF65-F5344CB8AC3E}">
        <p14:creationId xmlns:p14="http://schemas.microsoft.com/office/powerpoint/2010/main" val="612706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92B34-9391-483E-9FBB-47D0FE8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technology choices match the evaluation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66389-398E-4594-980A-B23F8816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Every choice reduces setup or keeps one architectural boundary easy to explain.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C480F-F324-4829-8683-7A0D6AD8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F78E7-31F6-4B97-ACDA-0E3987BD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Agentic SQL Dashboard | Junior AI Engineer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76786-C9E3-4000-8131-54C01676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53777-DFBE-4479-9EE9-60E31951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2D5B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885EF-397A-40EE-B181-5EFC0A4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C4282-53CB-49B3-B5A3-3C1D690A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Typed JSON boundary</a:t>
            </a:r>
          </a:p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Easy error responses</a:t>
            </a:r>
          </a:p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Backend stays testable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574D6-CDC3-4E14-8081-D91BE482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857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945D1-5673-4775-AA4B-4D240F65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469D7-9AD3-4321-8A19-63A2F42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Zero infrastructure</a:t>
            </a:r>
          </a:p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Small retail demo</a:t>
            </a:r>
          </a:p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Read-only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B8194-8F57-4C40-A055-2B7F8200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857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B079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D6AF4-2EF5-46D7-AEEC-3A01671B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Streamlit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DCE16-166D-4FA1-8D2B-95241714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481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Native tables and charts</a:t>
            </a:r>
          </a:p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Minimal frontend code</a:t>
            </a:r>
          </a:p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Styling is out of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07250-5FA1-4531-BD16-B8292083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4857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9525">
            <a:solidFill>
              <a:srgbClr val="735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2B7A3-8C9B-4F21-86CD-F76B56E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OpenRouter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F2FDF-B474-4F7E-8D22-B93249AA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OpenAI-compatible API</a:t>
            </a:r>
          </a:p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Provider config isolated</a:t>
            </a:r>
          </a:p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Same ChatOpenAI client</a:t>
            </a:r>
          </a:p>
        </p:txBody>
      </p:sp>
    </p:spTree>
    <p:extLst>
      <p:ext uri="{BB962C8B-B14F-4D97-AF65-F5344CB8AC3E}">
        <p14:creationId xmlns:p14="http://schemas.microsoft.com/office/powerpoint/2010/main" val="10448991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AE6AE-C8BF-4DDB-88B8-3B860AEC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design is intentionally small, not incomplete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017F9-F9B7-4DC6-9E60-194D107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These are the next production improvements, not requirements for this evaluation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23D5B-2F8F-4B2F-8792-4F181599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9DF50-6CE8-4784-974E-F68C6CA6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Agentic SQL Dashboard | Junior AI Engineer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FB6CE-4993-42F8-9399-FC32AE16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7DD0F-8046-4563-9844-A4B56B69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BD0F8-7BB8-4D0A-9076-12422797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Schema cache with invalidation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D27D3-CB25-4294-8480-32D5B577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Avoid reading PRAGMA metadata for every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06888-15CC-4F82-96EB-89490AD7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42D81-DC12-4E00-AEFE-9BFDAE0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B8B1E-EC93-4074-B134-4DDF0A9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Query timeout and cost guard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EF646-62EE-4E98-A0D4-145FA9EE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Protect against expensive scans and large aggregations.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72C3F-4063-4FE2-87C5-A9F881E3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80460-78A6-4475-945E-771D42C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01C8F-EFEF-4A24-A99C-FC47D2A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Authentication and audit 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3D520-C5D2-4C16-9416-8A7DCAA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Separate demo access from production data governance.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55F98-E69E-4DC3-BE11-99159A66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576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C92A6-385F-48BD-92FB-544946C9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545F3-44E4-42F4-947F-190B8AC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Evaluation dataset and tracing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FD96A-4FEA-416B-9C65-C18DF002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38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Measure SQL accuracy and repair frequency over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EB51E-543C-43A8-9A29-E162875D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6"/>
          </a:solidFill>
          <a:ln xmlns:a="http://schemas.openxmlformats.org/drawingml/2006/main" w="0">
            <a:solidFill>
              <a:srgbClr val="DDE3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3612A-18CB-41D3-93DE-445B937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144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4252E"/>
          </a:solidFill>
          <a:ln xmlns:a="http://schemas.openxmlformats.org/drawingml/2006/main" w="9525">
            <a:solidFill>
              <a:srgbClr val="1425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A0588-F50C-4A7D-9AA9-3CC98DA1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Scope decision: no memory, planner, or tracing dependency unless the assignment needs it.</a:t>
            </a:r>
          </a:p>
        </p:txBody>
      </p:sp>
    </p:spTree>
    <p:extLst>
      <p:ext uri="{BB962C8B-B14F-4D97-AF65-F5344CB8AC3E}">
        <p14:creationId xmlns:p14="http://schemas.microsoft.com/office/powerpoint/2010/main" val="1833820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D6EF5-B494-4738-9CFC-614C7568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6F68"/>
                </a:solidFill>
                <a:latin typeface="Helvetica Neue"/>
                <a:ea typeface="Helvetica Neue"/>
                <a:cs typeface="Helvetica Neue"/>
              </a:rPr>
              <a:t>CLOSING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8607C-73E5-45C8-92BB-4B5F07A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design is small</a:t>
            </a:r>
          </a:p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on purpose.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E17A6-C3A3-498D-9DA1-A4A2E58A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One responsibility per node</a:t>
            </a:r>
          </a:p>
          <a:p xmlns:a="http://schemas.openxmlformats.org/drawingml/2006/main">
            <a:pPr algn="l">
              <a:defRPr sz="20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Bounded recovery</a:t>
            </a:r>
          </a:p>
          <a:p xmlns:a="http://schemas.openxmlformats.org/drawingml/2006/main">
            <a:pPr algn="l">
              <a:defRPr sz="20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Evidence-driven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BE5CD-8BB8-4ED5-A06E-975667D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1E6F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8E4DA-2EE1-4BA0-8F21-E458D647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Interview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12D00-1FBE-4BF9-B58B-FB902ADA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Why the state exists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Why SQL is repaired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Why read-only is separate</a:t>
            </a:r>
          </a:p>
          <a:p xmlns:a="http://schemas.openxmlformats.org/drawingml/2006/main">
            <a:pPr algn="l">
              <a:def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C6770"/>
                </a:solidFill>
                <a:latin typeface="Helvetica Neue"/>
                <a:ea typeface="Helvetica Neue"/>
                <a:cs typeface="Helvetica Neue"/>
              </a:rPr>
              <a:t>Why the data can override the hint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9E96E-7474-40E8-B5A7-39C1B164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D5B88"/>
                </a:solidFill>
                <a:latin typeface="Helvetica Neue"/>
                <a:ea typeface="Helvetica Neue"/>
                <a:cs typeface="Helvetica Neue"/>
              </a:rPr>
              <a:t>The implementation is simple enough to explain line by line.</a:t>
            </a:r>
          </a:p>
        </p:txBody>
      </p:sp>
    </p:spTree>
    <p:extLst>
      <p:ext uri="{BB962C8B-B14F-4D97-AF65-F5344CB8AC3E}">
        <p14:creationId xmlns:p14="http://schemas.microsoft.com/office/powerpoint/2010/main" val="2023715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2026-07-10T21:18:25.9110000Z</dcterms:created>
  <dcterms:modified xsi:type="dcterms:W3CDTF">2026-07-10T21:18:25.9110000Z</dcterms:modified>
</coreProperties>
</file>